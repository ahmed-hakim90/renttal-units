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38dcc6eac74861" /><Relationship Type="http://schemas.openxmlformats.org/officeDocument/2006/relationships/extended-properties" Target="/docProps/app.xml" Id="Rd28cf498b92a4906" /><Relationship Type="http://schemas.openxmlformats.org/officeDocument/2006/relationships/officeDocument" Target="/ppt/presentation.xml" Id="Re50be76ac79b45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239bc9138f4107"/>
  </p:sldMasterIdLst>
  <p:notesMasterIdLst>
    <p:notesMasterId xmlns:r="http://schemas.openxmlformats.org/officeDocument/2006/relationships" r:id="R63fa6b76156242bf"/>
  </p:notesMasterIdLst>
  <p:sldIdLst>
    <p:sldId xmlns:r="http://schemas.openxmlformats.org/officeDocument/2006/relationships" id="256" r:id="Re7599bf03bfe4795"/>
    <p:sldId xmlns:r="http://schemas.openxmlformats.org/officeDocument/2006/relationships" id="257" r:id="R715d74e5f1444603"/>
    <p:sldId xmlns:r="http://schemas.openxmlformats.org/officeDocument/2006/relationships" id="258" r:id="R2a5855c5e3fa4a15"/>
    <p:sldId xmlns:r="http://schemas.openxmlformats.org/officeDocument/2006/relationships" id="259" r:id="Rcd82833fe08d4449"/>
    <p:sldId xmlns:r="http://schemas.openxmlformats.org/officeDocument/2006/relationships" id="260" r:id="R742391628a2a4e9f"/>
    <p:sldId xmlns:r="http://schemas.openxmlformats.org/officeDocument/2006/relationships" id="261" r:id="R914183bbea2e4649"/>
    <p:sldId xmlns:r="http://schemas.openxmlformats.org/officeDocument/2006/relationships" id="262" r:id="R7c72551162b043b7"/>
    <p:sldId xmlns:r="http://schemas.openxmlformats.org/officeDocument/2006/relationships" id="263" r:id="R9598a526610b4214"/>
    <p:sldId xmlns:r="http://schemas.openxmlformats.org/officeDocument/2006/relationships" id="264" r:id="R6b69c630ce424355"/>
    <p:sldId xmlns:r="http://schemas.openxmlformats.org/officeDocument/2006/relationships" id="265" r:id="Rdeddc46f4e27432b"/>
    <p:sldId xmlns:r="http://schemas.openxmlformats.org/officeDocument/2006/relationships" id="266" r:id="Rb7a0cf64cc6340cd"/>
    <p:sldId xmlns:r="http://schemas.openxmlformats.org/officeDocument/2006/relationships" id="267" r:id="R88cbdacb120240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9476e368d34891" /><Relationship Type="http://schemas.openxmlformats.org/officeDocument/2006/relationships/slideMaster" Target="/ppt/slideMasters/slideMaster1.xml" Id="Rd1239bc9138f4107" /><Relationship Type="http://schemas.openxmlformats.org/officeDocument/2006/relationships/notesMaster" Target="/ppt/notesMasters/notesMaster1.xml" Id="R63fa6b76156242bf" /><Relationship Type="http://schemas.openxmlformats.org/officeDocument/2006/relationships/presProps" Target="/ppt/presProps.xml" Id="R89dd09ff39794565" /><Relationship Type="http://schemas.openxmlformats.org/officeDocument/2006/relationships/tableStyles" Target="/ppt/tableStyles.xml" Id="R9654db4df6eb41d8" /><Relationship Type="http://schemas.openxmlformats.org/officeDocument/2006/relationships/slide" Target="/ppt/slides/slide1.xml" Id="Re7599bf03bfe4795" /><Relationship Type="http://schemas.openxmlformats.org/officeDocument/2006/relationships/slide" Target="/ppt/slides/slide2.xml" Id="R715d74e5f1444603" /><Relationship Type="http://schemas.openxmlformats.org/officeDocument/2006/relationships/slide" Target="/ppt/slides/slide3.xml" Id="R2a5855c5e3fa4a15" /><Relationship Type="http://schemas.openxmlformats.org/officeDocument/2006/relationships/slide" Target="/ppt/slides/slide4.xml" Id="Rcd82833fe08d4449" /><Relationship Type="http://schemas.openxmlformats.org/officeDocument/2006/relationships/slide" Target="/ppt/slides/slide5.xml" Id="R742391628a2a4e9f" /><Relationship Type="http://schemas.openxmlformats.org/officeDocument/2006/relationships/slide" Target="/ppt/slides/slide6.xml" Id="R914183bbea2e4649" /><Relationship Type="http://schemas.openxmlformats.org/officeDocument/2006/relationships/slide" Target="/ppt/slides/slide7.xml" Id="R7c72551162b043b7" /><Relationship Type="http://schemas.openxmlformats.org/officeDocument/2006/relationships/slide" Target="/ppt/slides/slide8.xml" Id="R9598a526610b4214" /><Relationship Type="http://schemas.openxmlformats.org/officeDocument/2006/relationships/slide" Target="/ppt/slides/slide9.xml" Id="R6b69c630ce424355" /><Relationship Type="http://schemas.openxmlformats.org/officeDocument/2006/relationships/slide" Target="/ppt/slides/slide10.xml" Id="Rdeddc46f4e27432b" /><Relationship Type="http://schemas.openxmlformats.org/officeDocument/2006/relationships/slide" Target="/ppt/slides/slide11.xml" Id="Rb7a0cf64cc6340cd" /><Relationship Type="http://schemas.openxmlformats.org/officeDocument/2006/relationships/slide" Target="/ppt/slides/slide12.xml" Id="R88cbdacb120240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873816341345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f0c9dba4ed48e6" /><Relationship Type="http://schemas.openxmlformats.org/officeDocument/2006/relationships/notesMaster" Target="/ppt/notesMasters/notesMaster1.xml" Id="R7b484946d67241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f0e5552c744ab1" /><Relationship Type="http://schemas.openxmlformats.org/officeDocument/2006/relationships/notesMaster" Target="/ppt/notesMasters/notesMaster1.xml" Id="R4a272604c4d347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ba40b707ae4d03" /><Relationship Type="http://schemas.openxmlformats.org/officeDocument/2006/relationships/notesMaster" Target="/ppt/notesMasters/notesMaster1.xml" Id="Rf9f2faf2daba45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e374f794df4cc8" /><Relationship Type="http://schemas.openxmlformats.org/officeDocument/2006/relationships/notesMaster" Target="/ppt/notesMasters/notesMaster1.xml" Id="R51bd156e1b1547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620c47a51b49ad" /><Relationship Type="http://schemas.openxmlformats.org/officeDocument/2006/relationships/notesMaster" Target="/ppt/notesMasters/notesMaster1.xml" Id="Rabc45f0d56c84b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f0f3d05e634806" /><Relationship Type="http://schemas.openxmlformats.org/officeDocument/2006/relationships/notesMaster" Target="/ppt/notesMasters/notesMaster1.xml" Id="Rf8ec2f95427748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6d338e1e7e4ee6" /><Relationship Type="http://schemas.openxmlformats.org/officeDocument/2006/relationships/notesMaster" Target="/ppt/notesMasters/notesMaster1.xml" Id="R2992dc0c35804c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7d5748f7a04c7b" /><Relationship Type="http://schemas.openxmlformats.org/officeDocument/2006/relationships/notesMaster" Target="/ppt/notesMasters/notesMaster1.xml" Id="Rb9f725bc5de549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10bbee06644b99" /><Relationship Type="http://schemas.openxmlformats.org/officeDocument/2006/relationships/notesMaster" Target="/ppt/notesMasters/notesMaster1.xml" Id="R628926f667c841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d784020e114e78" /><Relationship Type="http://schemas.openxmlformats.org/officeDocument/2006/relationships/notesMaster" Target="/ppt/notesMasters/notesMaster1.xml" Id="Ra21bc701def648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eb130d4b694f22" /><Relationship Type="http://schemas.openxmlformats.org/officeDocument/2006/relationships/notesMaster" Target="/ppt/notesMasters/notesMaster1.xml" Id="R5987ee4f09ae4b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304162c3344166" /><Relationship Type="http://schemas.openxmlformats.org/officeDocument/2006/relationships/notesMaster" Target="/ppt/notesMasters/notesMaster1.xml" Id="Rbab83c958a7243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عرض تسليم غير تقني يشرح الشاشات والإجراءات اليومية.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src/messages/ar/*.json: أسماء الشاشات والأزرار والحالات المستخدمة في واجهة النظام.</a:t>
            </a:r>
          </a:p>
          <a:p xmlns:a="http://schemas.openxmlformats.org/drawingml/2006/main">
            <a:r>
              <a:t>README.md: نطاق النظام العام وصفحات التشغيل.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عرض تسليم غير تقني يشرح الشاشات والإجراءات اليومية.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src/messages/ar/*.json: أسماء الشاشات والأزرار والحالات المستخدمة في واجهة النظام.</a:t>
            </a:r>
          </a:p>
          <a:p xmlns:a="http://schemas.openxmlformats.org/drawingml/2006/main">
            <a:r>
              <a:t>README.md: نطاق النظام العام وصفحات التشغيل.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عرض تسليم غير تقني يشرح الشاشات والإجراءات اليومية.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src/messages/ar/*.json: أسماء الشاشات والأزرار والحالات المستخدمة في واجهة النظام.</a:t>
            </a:r>
          </a:p>
          <a:p xmlns:a="http://schemas.openxmlformats.org/drawingml/2006/main">
            <a:r>
              <a:t>README.md: نطاق النظام العام وصفحات التشغيل.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عرض تسليم غير تقني يشرح الشاشات والإجراءات اليومية.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src/messages/ar/*.json: أسماء الشاشات والأزرار والحالات المستخدمة في واجهة النظام.</a:t>
            </a:r>
          </a:p>
          <a:p xmlns:a="http://schemas.openxmlformats.org/drawingml/2006/main">
            <a:r>
              <a:t>README.md: نطاق النظام العام وصفحات التشغيل.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عرض تسليم غير تقني يشرح الشاشات والإجراءات اليومية.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src/messages/ar/*.json: أسماء الشاشات والأزرار والحالات المستخدمة في واجهة النظام.</a:t>
            </a:r>
          </a:p>
          <a:p xmlns:a="http://schemas.openxmlformats.org/drawingml/2006/main">
            <a:r>
              <a:t>README.md: نطاق النظام العام وصفحات التشغيل.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عرض تسليم غير تقني يشرح الشاشات والإجراءات اليومية.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src/messages/ar/*.json: أسماء الشاشات والأزرار والحالات المستخدمة في واجهة النظام.</a:t>
            </a:r>
          </a:p>
          <a:p xmlns:a="http://schemas.openxmlformats.org/drawingml/2006/main">
            <a:r>
              <a:t>README.md: نطاق النظام العام وصفحات التشغيل.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عرض تسليم غير تقني يشرح الشاشات والإجراءات اليومية.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src/messages/ar/*.json: أسماء الشاشات والأزرار والحالات المستخدمة في واجهة النظام.</a:t>
            </a:r>
          </a:p>
          <a:p xmlns:a="http://schemas.openxmlformats.org/drawingml/2006/main">
            <a:r>
              <a:t>README.md: نطاق النظام العام وصفحات التشغيل.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عرض تسليم غير تقني يشرح الشاشات والإجراءات اليومية.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src/messages/ar/*.json: أسماء الشاشات والأزرار والحالات المستخدمة في واجهة النظام.</a:t>
            </a:r>
          </a:p>
          <a:p xmlns:a="http://schemas.openxmlformats.org/drawingml/2006/main">
            <a:r>
              <a:t>README.md: نطاق النظام العام وصفحات التشغيل.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عرض تسليم غير تقني يشرح الشاشات والإجراءات اليومية.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src/messages/ar/*.json: أسماء الشاشات والأزرار والحالات المستخدمة في واجهة النظام.</a:t>
            </a:r>
          </a:p>
          <a:p xmlns:a="http://schemas.openxmlformats.org/drawingml/2006/main">
            <a:r>
              <a:t>README.md: نطاق النظام العام وصفحات التشغيل.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عرض تسليم غير تقني يشرح الشاشات والإجراءات اليومية.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src/messages/ar/*.json: أسماء الشاشات والأزرار والحالات المستخدمة في واجهة النظام.</a:t>
            </a:r>
          </a:p>
          <a:p xmlns:a="http://schemas.openxmlformats.org/drawingml/2006/main">
            <a:r>
              <a:t>README.md: نطاق النظام العام وصفحات التشغيل.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عرض تسليم غير تقني يشرح الشاشات والإجراءات اليومية.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src/messages/ar/*.json: أسماء الشاشات والأزرار والحالات المستخدمة في واجهة النظام.</a:t>
            </a:r>
          </a:p>
          <a:p xmlns:a="http://schemas.openxmlformats.org/drawingml/2006/main">
            <a:r>
              <a:t>README.md: نطاق النظام العام وصفحات التشغيل.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عرض تسليم غير تقني يشرح الشاشات والإجراءات اليومية.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src/messages/ar/*.json: أسماء الشاشات والأزرار والحالات المستخدمة في واجهة النظام.</a:t>
            </a:r>
          </a:p>
          <a:p xmlns:a="http://schemas.openxmlformats.org/drawingml/2006/main">
            <a:r>
              <a:t>README.md: نطاق النظام العام وصفحات التشغيل.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0c270d56654f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74bd9770944092" /><Relationship Type="http://schemas.openxmlformats.org/officeDocument/2006/relationships/slideLayout" Target="/ppt/slideLayouts/slideLayout1.xml" Id="Rf494a6eb1d2e4f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94a6eb1d2e4f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8566c14434cf9" /><Relationship Type="http://schemas.openxmlformats.org/officeDocument/2006/relationships/notesSlide" Target="/ppt/notesSlides/notesSlide1.xml" Id="Rc04bd7c8a58244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f9fd8a21c43ab" /><Relationship Type="http://schemas.openxmlformats.org/officeDocument/2006/relationships/notesSlide" Target="/ppt/notesSlides/notesSlide2.xml" Id="R58437a54f4834b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7b18d809840b0" /><Relationship Type="http://schemas.openxmlformats.org/officeDocument/2006/relationships/notesSlide" Target="/ppt/notesSlides/notesSlide3.xml" Id="Re92038b5bb924c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ed06f4b334bda" /><Relationship Type="http://schemas.openxmlformats.org/officeDocument/2006/relationships/notesSlide" Target="/ppt/notesSlides/notesSlide4.xml" Id="R2a105b22ce2741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e05dc3caf4911" /><Relationship Type="http://schemas.openxmlformats.org/officeDocument/2006/relationships/notesSlide" Target="/ppt/notesSlides/notesSlide5.xml" Id="Rd0c5218e08ff4d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0a80b5eee47ca" /><Relationship Type="http://schemas.openxmlformats.org/officeDocument/2006/relationships/notesSlide" Target="/ppt/notesSlides/notesSlide6.xml" Id="Rb9747d74f4e744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273a3f2934084" /><Relationship Type="http://schemas.openxmlformats.org/officeDocument/2006/relationships/notesSlide" Target="/ppt/notesSlides/notesSlide7.xml" Id="R1313c52c6e024f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b19263c334a9b" /><Relationship Type="http://schemas.openxmlformats.org/officeDocument/2006/relationships/notesSlide" Target="/ppt/notesSlides/notesSlide8.xml" Id="Rb3ca431b402744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90b4a5a4e4844" /><Relationship Type="http://schemas.openxmlformats.org/officeDocument/2006/relationships/notesSlide" Target="/ppt/notesSlides/notesSlide9.xml" Id="R51dab544db684b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3c95015044624" /><Relationship Type="http://schemas.openxmlformats.org/officeDocument/2006/relationships/notesSlide" Target="/ppt/notesSlides/notesSlide10.xml" Id="Re7b3067080644f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8494fb6d04776" /><Relationship Type="http://schemas.openxmlformats.org/officeDocument/2006/relationships/notesSlide" Target="/ppt/notesSlides/notesSlide11.xml" Id="R37e107d5fab244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0e8794ad2451c" /><Relationship Type="http://schemas.openxmlformats.org/officeDocument/2006/relationships/notesSlide" Target="/ppt/notesSlides/notesSlide12.xml" Id="R80caf34b5c384f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38F8F4B-294A-4DFD-AB6A-917EAD50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وحدات الإيجار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26D77-E88A-47ED-88B6-4F85408D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عرض تسليم يوضح شاشات النظام وكل إجراء يستخدمه فريق الشركة يومياً.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3EC22-6AD6-48FE-8D2F-66277D3A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9055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D86EE-7276-407F-B837-9974207C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28750"/>
            <a:ext cx="1476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89FBA-3C97-4D17-8524-5C88057A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00200"/>
            <a:ext cx="285750" cy="2857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7ACE7-A3B0-4EC4-B212-63411368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47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F9215-9AB2-44C9-9A9F-A74318FF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192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وحدات الإيجار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91D88-D707-4E16-975E-048833CD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95500"/>
            <a:ext cx="124777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574A97-1F3B-4D5E-AA6B-EAAA8F5E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133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D4ED8"/>
                </a:solidFill>
              </a:defRPr>
            </a:pPr>
            <a:r>
              <a:rPr sz="825" b="1">
                <a:solidFill>
                  <a:srgbClr val="1D4ED8"/>
                </a:solidFill>
              </a:rPr>
              <a:t>لوحة التحكم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1C3EC-0736-4688-8372-EEB26CA5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19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المواقع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572E0-356A-4B55-B57A-771E93D9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7051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الوحدات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25A80-FFCB-41B8-AA7D-735B494A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9908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العقود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B61077-BCBA-40D8-938E-ED2835F6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276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مستحق الآن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B33D0-024A-4222-9251-F130C817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562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الفواتير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CF20F-50F1-4395-858A-FF2B6E70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8481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المدفوعات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B5153-34F0-4169-8390-55566923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1338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التقارير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1CF274-7AF7-4561-83DB-68610B06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419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الاستيراد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B5CD9-C66B-4F22-9880-DA9EFF02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705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المستخدمون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C6DDE-6962-4490-BF91-5A1C8704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لوحة التحكم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BDB452-B6B5-43D4-8162-76F31C5E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متابعة وإدارة البيانات اليومية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E204C2-36DD-4A8B-86D0-ACB09F4A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95450"/>
            <a:ext cx="1047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536D71-AF61-450B-9B9D-DE81C94C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7811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عرض التفاصيل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00E916-7265-4820-B784-E3D1905F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010025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161E69-D374-493B-B79A-0A1C3D7A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781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4A3B8"/>
                </a:solidFill>
              </a:defRPr>
            </a:pPr>
            <a:r>
              <a:rPr sz="900">
                <a:solidFill>
                  <a:srgbClr val="94A3B8"/>
                </a:solidFill>
              </a:rPr>
              <a:t>بحث أو تصفية...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74BA8A-831D-423A-BC1A-0D6AD6E6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22FCA1-499B-4964-9D66-FE293562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مستحق الآن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DFAD99-9D74-41DD-AC01-5A74A48A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18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0B64F4-2C12-4196-8ED6-A52195B5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725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F52E88-9C23-4E57-8D55-8EE55393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75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في انتظار الدفع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49C93F-F46E-4AFB-A377-9ED1218D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75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42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E39399-9414-42F0-9461-4C0797C2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150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49B72F-0792-45B7-9FF5-56A2B9A0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مدفوع جزئياً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E89540-22C8-4BD1-8A3A-96A97948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C3DB34-764C-49DF-99D0-E4169762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010025" cy="1381125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9824A1-E8E6-41E8-B779-31CF8871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010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240CAD-DA32-45E7-BA8C-2FCBDB6D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العنصر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EC3225-8ECA-4451-9C87-9EDED36C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التفاصيل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84716A-D0A6-4418-AE80-B643D207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الحالة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61FDDC-AE8D-4C09-BA86-2CC75957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1433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مستحق الآن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82366C-D11A-4B9C-9806-D6A6E311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433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18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BE10CD-52F3-4B65-BED5-72A2D865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08E40D-EB2C-4409-8756-C06411A2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16242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97706"/>
                </a:solidFill>
              </a:defRPr>
            </a:pPr>
            <a:r>
              <a:rPr sz="675" b="1">
                <a:solidFill>
                  <a:srgbClr val="D97706"/>
                </a:solidFill>
              </a:rPr>
              <a:t>إجراء متاح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0669A5-58D9-4BF6-A691-D2A8A31D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467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في انتظار الدفع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46F21A-D328-46D1-A593-EFEFD462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67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42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4A26BD-66D1-4F7C-B268-2493BA3D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603719-70E7-4FC1-B68D-C0C6CA39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48627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</a:defRPr>
            </a:pPr>
            <a:r>
              <a:rPr sz="675" b="1">
                <a:solidFill>
                  <a:srgbClr val="2563EB"/>
                </a:solidFill>
              </a:rPr>
              <a:t>متابعة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4FAD91-529C-4FE1-BD83-6BAA5110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910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مدفوع جزئياً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EE38DC-AE17-4E0C-B342-768858F6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910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EC49C5-2899-467E-A3BE-BFBCF657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5D1FA0-3934-4018-8374-66CCA882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81012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97706"/>
                </a:solidFill>
              </a:defRPr>
            </a:pPr>
            <a:r>
              <a:rPr sz="675" b="1">
                <a:solidFill>
                  <a:srgbClr val="D97706"/>
                </a:solidFill>
              </a:rPr>
              <a:t>متابعة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44976C-4C5E-4674-8839-582335E7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1149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مدفوع بالكامل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094098-7F92-4FDF-9332-BA69B9FB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149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128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635280A-B38D-4A4F-A5B9-D512CFD5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8635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7DB124-9BC2-4388-BEEE-FCC51E17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13397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6A34A"/>
                </a:solidFill>
              </a:defRPr>
            </a:pPr>
            <a:r>
              <a:rPr sz="675" b="1">
                <a:solidFill>
                  <a:srgbClr val="16A34A"/>
                </a:solidFill>
              </a:rPr>
              <a:t>متابعة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A98BD2B-990D-4783-85B2-B399B90E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الأكشنز في الشاشة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CF4E478-0D2C-4282-A42C-A9FDA8D6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47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01B364D-2745-4C97-8D47-CB757D3C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71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لوحة التحكم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AC80036-953B-4F58-B924-D29E506D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2F1AC99-047B-4DB2-BBF3-97F01958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71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المواقع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408858A-88FE-4154-924D-66F7AAC9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19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E85F66B-7F61-4EFF-955D-34532EC0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43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الوحدات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297C706-DC23-418D-8DEB-2F82C3AF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E37E6B2-04DF-44CA-8D32-7E29C787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43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العقود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E9D6F42-5B7E-4FF8-80E7-5C40142F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90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2D23F1C-5B1B-4B0F-8158-221C7707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14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الفواتير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566B66B-0B6B-4AD3-A90B-1293B5C0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90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6930975-E921-4D94-A923-8F919A3E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14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المدفوعات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0A896F3-AA16-443E-9F00-1A74367A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62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DB724FB-29D3-4151-83DF-8DF8344E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86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التقارير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25558F3-4E0B-49D6-AACE-659140A1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62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1842D37-2BA1-4641-B35A-1D726A7D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86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الصلاحيات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D18F5BA-640F-4759-8DE3-D614E863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وحدات الإيجار | 1</a:t>
            </a:r>
          </a:p>
        </p:txBody>
      </p:sp>
    </p:spTree>
    <p:extLst>
      <p:ext uri="{BB962C8B-B14F-4D97-AF65-F5344CB8AC3E}">
        <p14:creationId xmlns:p14="http://schemas.microsoft.com/office/powerpoint/2010/main" val="69770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57750BA-AC12-44DB-BB3C-C362AA17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لوحة التحكم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F817E-6A60-45A9-8DED-B1896466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الشاشة اللي تبدأ منها المتابعة اليومية.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F1FF2-0A14-4620-BCE2-139A8B53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9055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7DACE-ECE1-487B-91AD-D73E650B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28750"/>
            <a:ext cx="1476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096C6-D319-43E8-968A-B3C142D8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00200"/>
            <a:ext cx="285750" cy="2857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E1EAC-03D9-46F3-8060-58FDCB19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47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73991-FE89-406F-9AB4-914D66E3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192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وحدات الإيجار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C1108-2D0E-474B-9240-B52AA80D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95500"/>
            <a:ext cx="124777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8BC4B-13C3-4FAE-AF04-0C05ADC3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133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D4ED8"/>
                </a:solidFill>
              </a:defRPr>
            </a:pPr>
            <a:r>
              <a:rPr sz="825" b="1">
                <a:solidFill>
                  <a:srgbClr val="1D4ED8"/>
                </a:solidFill>
              </a:rPr>
              <a:t>لوحة التحكم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95E9A-FBAF-4A6B-8C3A-A9B5A5A7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19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المواقع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CF4F0-3D1F-4131-B280-5BAE4E37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7051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الوحدات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26680E-B7B6-465B-8AD0-AC0454BD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9908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العقود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C55B6-E703-4028-A27C-26ED6297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276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مستحق الآن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B0AFA4-B0C7-4A69-82EF-28BB1BB8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562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الفواتير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63136-6901-41DE-8F36-5D281B3B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8481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المدفوعات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804C0-6EF4-4515-B661-10C2C5D0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1338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التقارير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A4F46-640C-476B-9949-75ADD335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419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الاستيراد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8E4A28-F189-483C-899B-578A19B8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705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المستخدمون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C47B8-0FEA-418D-BB18-73E5027D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لوحة التحكم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B68CC7-9325-46EC-8575-68F9017E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متابعة وإدارة البيانات اليومية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29AB45-09EF-48DC-99C1-B74F2895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95450"/>
            <a:ext cx="1047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B7377B-C46E-4393-B67A-6A7BEF9A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7811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عرض التفاصيل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BDB71-BB37-4F75-A3CB-51C886FC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010025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C0B463-2023-408C-B764-3DF6AC89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781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4A3B8"/>
                </a:solidFill>
              </a:defRPr>
            </a:pPr>
            <a:r>
              <a:rPr sz="900">
                <a:solidFill>
                  <a:srgbClr val="94A3B8"/>
                </a:solidFill>
              </a:rPr>
              <a:t>بحث أو تصفية...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C96F6C-43BC-4656-B7FE-22BD80D5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4BC02F-3E23-4FCF-B877-3F639728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مستحق الآن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7C3BBB-ABAB-4D43-BB64-CB129029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18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CE811E-10AC-447A-8633-5EDFA4B4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725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F6BCD2-D660-4AFE-9470-AD8FE4DB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75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في انتظار الدفع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848645-7548-4D0F-99D1-4D477B1D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75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42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576582-BE24-4552-A32C-87F650EE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150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75BE8A-1ACC-45E7-A408-D6BB3B7E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مدفوع جزئياً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8D9E07-98EE-4894-95A2-D15EB026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E74377-8BAD-4AC6-8E35-8A2289EF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010025" cy="1381125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320B62-BD18-400A-AF0B-D83D1175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010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E3C7BF-A014-4579-97E8-61D5BFCB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العنصر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8A7428-A878-4598-AA00-55F1C7F6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التفاصيل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83C8A0-9637-4319-A1F5-F190E1B5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الحالة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82D45A-2246-4574-87A3-2E9F8E15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1433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مستحق الآن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3D9207-B5FD-4098-8C68-87DC7E57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433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18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774D66-8D4E-4615-A347-BE34B1E3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05B490-260D-4FA1-B3F8-A0976DF3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16242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97706"/>
                </a:solidFill>
              </a:defRPr>
            </a:pPr>
            <a:r>
              <a:rPr sz="675" b="1">
                <a:solidFill>
                  <a:srgbClr val="D97706"/>
                </a:solidFill>
              </a:rPr>
              <a:t>إجراء متاح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5CB5BA-AE3C-4E0E-9E28-02238CBE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467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في انتظار الدفع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098766-725A-42D4-8D3C-EA7FBA91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67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42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4C00F3-6F13-4C79-8F49-4A04726C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53C199-3EC6-4F7A-8D91-4C83ECF7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48627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</a:defRPr>
            </a:pPr>
            <a:r>
              <a:rPr sz="675" b="1">
                <a:solidFill>
                  <a:srgbClr val="2563EB"/>
                </a:solidFill>
              </a:rPr>
              <a:t>متابعة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B7C9A0-417B-4356-B70B-A63A0CCF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910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مدفوع جزئياً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9FE98F-3500-4292-953F-0E8102E6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910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468001-9C98-47CE-BF68-C3DB5507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E35880-C12C-43BB-987A-F5EA6079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81012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97706"/>
                </a:solidFill>
              </a:defRPr>
            </a:pPr>
            <a:r>
              <a:rPr sz="675" b="1">
                <a:solidFill>
                  <a:srgbClr val="D97706"/>
                </a:solidFill>
              </a:rPr>
              <a:t>متابعة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B5FBBD-7D92-4CE3-960C-14E9B802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1149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مدفوع بالكامل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4976D6-85B0-4484-8D38-56F78C65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149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128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FD05FF-0D49-4157-B1B1-35C28D45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8635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AA29D87-B07C-4F13-9014-45EE805B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13397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6A34A"/>
                </a:solidFill>
              </a:defRPr>
            </a:pPr>
            <a:r>
              <a:rPr sz="675" b="1">
                <a:solidFill>
                  <a:srgbClr val="16A34A"/>
                </a:solidFill>
              </a:rPr>
              <a:t>متابعة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2F9F182-3FA3-4EF5-A361-0785FFDF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الأكشنز في الشاشة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55E7AB-A0F0-40A3-9627-61776D92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47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1EBBB4D-CB7C-4B3E-83DA-C6C2D6AF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71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عرض المستحق الآن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1922E4-6295-4418-A9F6-CC1D5554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7F1AF57-5173-422A-919D-CEDE3C87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71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متابعة الفواتير المنتظرة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E1636B7-2841-489E-B6AB-FED7F40D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19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B6B2DA3-E99D-4CF7-8370-406FBF6D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43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معرفة المدفوع جزئياً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AFA8422-AD93-4827-8F65-922C5E00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AC142C8-6CCE-4F5A-95F4-96794BB7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43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فتح الفواتير المدفوعة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C1A21D5-5971-4F8B-A6DC-4BF7EF1A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90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31D4BEC-CF39-4A4D-90A8-AC782B5E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14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البحث عن وحدة أو فاتورة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9720406-6E40-438F-85FC-7A3EE2E8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وحدات الإيجار | 2</a:t>
            </a:r>
          </a:p>
        </p:txBody>
      </p:sp>
    </p:spTree>
    <p:extLst>
      <p:ext uri="{BB962C8B-B14F-4D97-AF65-F5344CB8AC3E}">
        <p14:creationId xmlns:p14="http://schemas.microsoft.com/office/powerpoint/2010/main" val="420984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9A52D3A-6EF9-4E5C-B736-06E86971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شاشة المواقع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666C4-3DA1-4BDD-B62B-3E10A001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تنظيم العقارات حسب الموقع والمدينة والمنطقة.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9830C-FCDE-483B-B4F6-1C7F139C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9055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2F658-8452-4579-8C1A-45931AE3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28750"/>
            <a:ext cx="1476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1A6A8-DA5C-4277-A127-2E9AA17A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00200"/>
            <a:ext cx="285750" cy="2857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601C8-00C7-42D1-8F68-7B46336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47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F2482-6153-4545-9856-43275C91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192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وحدات الإيجار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E5EB4-8ADB-433A-95D4-CC70B6BF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133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لوحة التحكم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2591F-FD45-49FC-BD8D-C6340582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381250"/>
            <a:ext cx="124777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23B49-E77D-49A4-8D53-4757F567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19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D4ED8"/>
                </a:solidFill>
              </a:defRPr>
            </a:pPr>
            <a:r>
              <a:rPr sz="825" b="1">
                <a:solidFill>
                  <a:srgbClr val="1D4ED8"/>
                </a:solidFill>
              </a:rPr>
              <a:t>المواقع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7FA12-D3F7-4D87-8664-FDCC5645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7051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الوحدات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0F362-E80D-441C-B36E-7C7CB323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9908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العقود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C0C97-562A-4A33-84C2-4AC70F7A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276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مستحق الآن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01080A-4669-42BE-A1FA-939AC3B0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562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الفواتير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A8A3EA-B298-46EC-87C7-F4F1D4A3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8481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المدفوعات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A0B8FB-F387-4B8A-AD2C-A8E3D469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1338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التقارير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639CC9-6D38-47D1-9ADA-AD07C731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419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الاستيراد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2E0630-126E-46D4-9F49-06E08AE7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705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المستخدمون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2A7EEA-CA78-4150-8BB9-46D6B259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المواقع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35C4F4-04E2-4501-9931-95676A83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متابعة وإدارة البيانات اليومية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D20E2-62D2-40FF-A0A1-E3DF309C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95450"/>
            <a:ext cx="1047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E5C655-A2B4-4CFE-8B6A-B65AB846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7811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إضافة موقع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80832D-4A08-420F-BF03-C1697D52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010025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58C477-0522-4EB4-AAEB-56ABB1A8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781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4A3B8"/>
                </a:solidFill>
              </a:defRPr>
            </a:pPr>
            <a:r>
              <a:rPr sz="900">
                <a:solidFill>
                  <a:srgbClr val="94A3B8"/>
                </a:solidFill>
              </a:rPr>
              <a:t>بحث أو تصفية...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3A5E31-0BC3-420B-B692-EBB434E5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DB3F97-11EF-4C7F-8C0A-4C4CB092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الرياض - العليا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D8F261-66D3-4C3D-A165-CD0A3BFA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12 وحدة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EE9B6E-7380-4972-A0C3-6BAFA895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725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BAEF40-72BF-4F23-B865-B555A5AB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75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جدة - السلامة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43EF4B-7035-4D2A-BFBC-95B23849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75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8 وحدات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30E2B5-89F7-4DCD-81E4-6FF91D40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150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6D5EC3-8D30-4C40-9C76-EBBA88B2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الدمام - الشاطئ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B55CE6-C0FD-49AC-9D93-1CF3E4F0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6 وحدات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1FFD9B-3FBA-4887-9EF5-7E05290A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010025" cy="1381125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9EF175-AEAB-4D69-BE2F-18B7F814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010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177E21-7163-4048-B502-78A56DF4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العنصر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377139-A4AA-4671-AA04-39D7422E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التفاصيل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C17880-88F7-4C99-B3F6-A9D59428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الحالة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0EBBC0-729F-4C0F-885D-47C0DE6A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1433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الرياض - العليا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51AEC6-48E9-49DB-9F0A-6594214B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433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12 وحدة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42DA4D-FC80-4A0C-B62C-EF071E30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ED6637-438A-4696-89DA-22883559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16242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</a:defRPr>
            </a:pPr>
            <a:r>
              <a:rPr sz="675" b="1">
                <a:solidFill>
                  <a:srgbClr val="2563EB"/>
                </a:solidFill>
              </a:rPr>
              <a:t>إجراء متاح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FA1191-A55F-47E2-8D3C-B615B358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467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جدة - السلامة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FF2609-7962-4FA0-B3CA-40C09871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67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8 وحدات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46867F-7F7D-46D4-8764-ED4A74AA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025CC3-318F-4F0B-90ED-F22D6DA2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48627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6A34A"/>
                </a:solidFill>
              </a:defRPr>
            </a:pPr>
            <a:r>
              <a:rPr sz="675" b="1">
                <a:solidFill>
                  <a:srgbClr val="16A34A"/>
                </a:solidFill>
              </a:rPr>
              <a:t>متابعة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A1C301-A9E8-4D77-89DB-238F148D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910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الدمام - الشاطئ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3B6164-E812-4681-BB57-AEF95CF7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910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6 وحدات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A85285-014C-4E1B-A084-2639F25D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BFA828-5017-45B0-9FF4-7A05477E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81012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97706"/>
                </a:solidFill>
              </a:defRPr>
            </a:pPr>
            <a:r>
              <a:rPr sz="675" b="1">
                <a:solidFill>
                  <a:srgbClr val="D97706"/>
                </a:solidFill>
              </a:rPr>
              <a:t>متابعة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717C22-EFC8-422B-9181-D72353B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الأكشنز في الشاشة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741460-7F94-4792-8E90-A39C1CC8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47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9CFCB4-CB0C-41A9-B980-FBEB926A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71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إضافة موقع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307984-A0EE-4FEB-B011-4920A51C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09590BB-55CE-4E73-9FCA-3C0612D8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71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تعديل بيانات الموقع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F12A08-1971-412C-9007-45398BD5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19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D31C4E9-F136-4DBA-972D-43E0141B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43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حذف الموقع إذا ما عليه وحدات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C014F2-10EC-4093-A0DE-EFABC273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452DC68-6AE7-4EF6-87F2-713FD0C2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43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عرض عدد الوحدات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8CF4FA0-6114-4CE7-AFE9-DC0CA386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90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1D0C88C-96F2-45A1-89FC-0871E940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14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البحث والتصفية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BF31FD6-D114-4D6A-AF24-DE530FBB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وحدات الإيجار | 3</a:t>
            </a:r>
          </a:p>
        </p:txBody>
      </p:sp>
    </p:spTree>
    <p:extLst>
      <p:ext uri="{BB962C8B-B14F-4D97-AF65-F5344CB8AC3E}">
        <p14:creationId xmlns:p14="http://schemas.microsoft.com/office/powerpoint/2010/main" val="18733457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5CC30E5-8A22-4E3B-9B77-0743F353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شاشة الوحدات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24E7A-7FC4-4A76-A924-B4FB9856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إدارة كل وحدة إيجارية وحالتها وتفاصيلها.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C8CF7-63FC-418F-8EC5-B16FAF43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9055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F8165-B455-4F57-99D7-D353FBC0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28750"/>
            <a:ext cx="1476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3FDD9-1309-4154-977D-19204800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00200"/>
            <a:ext cx="285750" cy="2857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FECFD-C292-49D9-8C67-68DB5FCD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47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B564F-8B71-498B-8700-782948A4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192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وحدات الإيجار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13D6A-1EE9-4D43-A321-A35954BE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133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لوحة التحكم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F327D-7E1A-4FDC-BDB1-9A64132D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19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المواقع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A3A0D-E983-469D-9573-53914275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667000"/>
            <a:ext cx="124777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5C472-C4F0-462A-AA8F-917D1269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7051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D4ED8"/>
                </a:solidFill>
              </a:defRPr>
            </a:pPr>
            <a:r>
              <a:rPr sz="825" b="1">
                <a:solidFill>
                  <a:srgbClr val="1D4ED8"/>
                </a:solidFill>
              </a:rPr>
              <a:t>الوحدات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E67A6-DD62-4BB2-B278-AA7BEAE2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9908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العقود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249A7-1250-422A-A26E-748B41BA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276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مستحق الآن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370CB7-4FCB-4E2A-8BDF-312C98B6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562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الفواتير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224423-E844-454F-BA60-D2BEB26F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8481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المدفوعات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A7B4F-B719-4E12-BF79-B32BD5B1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1338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التقارير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7727D5-CB15-4F7B-8EA8-892D7BF1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419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الاستيراد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A3F2CA-7B63-46EC-8463-9546CB02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705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المستخدمون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1C3A09-91DE-4EE9-8DE6-09D4EDAF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الوحدات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A3BE72-015F-4C56-ACCA-7A21D835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متابعة وإدارة البيانات اليومية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0F02B-0C0B-4111-8B04-7A7E90BD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95450"/>
            <a:ext cx="1047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A449EA-A0DE-4AA4-B192-F136C322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7811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إضافة وحدة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B1C40F-18E9-4990-9242-F8EBC3F0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010025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557B7F-3AF1-44CD-82F0-35AE873D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781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4A3B8"/>
                </a:solidFill>
              </a:defRPr>
            </a:pPr>
            <a:r>
              <a:rPr sz="900">
                <a:solidFill>
                  <a:srgbClr val="94A3B8"/>
                </a:solidFill>
              </a:rPr>
              <a:t>بحث أو تصفية...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B4D02D-B7B0-44C9-AE21-4726CD94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143E74-2981-40AF-ABAA-F2BE0725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A-101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1A4270-86D0-4C89-AA60-B3AEDE4E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مشغول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CF50B2-00E7-48C3-ADD1-6792B9B8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725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34FFDE-891B-42C3-89E4-BDD22023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75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A-102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4E181C-F30A-43B1-9B5C-2A28051E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75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شاغر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22D58D-57FB-4574-8DFD-08DEA681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150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4062BC-4D34-470A-B775-8F2AA94A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B-204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C72458-D6B1-44D8-AC8D-10573916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صيانة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F0063B-DD16-4510-9588-A254831C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010025" cy="1381125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FE92F5-0432-4F92-B359-2E8D53C3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010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30DE44-E6B1-46AE-8792-D8E56318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العنصر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89B675-CF2C-4E07-90E1-4941637F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التفاصيل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823AE5-054E-4B77-9BA5-7B194F41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الحالة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C5B808-2111-48B0-B852-B3B23CCD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1433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A-101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BA10F5-25A1-43EC-BFAA-E2E7E3B5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433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مشغول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DE782E-E83C-42E9-8B84-FC6D2914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17EF16-ED83-454F-8096-92637C89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16242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6A34A"/>
                </a:solidFill>
              </a:defRPr>
            </a:pPr>
            <a:r>
              <a:rPr sz="675" b="1">
                <a:solidFill>
                  <a:srgbClr val="16A34A"/>
                </a:solidFill>
              </a:rPr>
              <a:t>إجراء متاح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FB9CCF-9293-495B-8A38-4924CD9C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467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A-102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DB7067-0D47-449E-9A28-1A8FEB2E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67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شاغر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789911-BD86-4FAD-8A9E-BE4F1D66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351264-B1DE-48BA-8BB6-E6F46DFA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48627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</a:defRPr>
            </a:pPr>
            <a:r>
              <a:rPr sz="675" b="1">
                <a:solidFill>
                  <a:srgbClr val="2563EB"/>
                </a:solidFill>
              </a:rPr>
              <a:t>متابعة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1752BD-2EB0-4C4C-B94D-25159554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910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B-204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0EC10B-41AB-4C71-9544-95F68310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910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صيانة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A96F80-D008-48F0-8C88-4B4239D3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DCF1AB-2A2B-4350-AD37-87D64310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81012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97706"/>
                </a:solidFill>
              </a:defRPr>
            </a:pPr>
            <a:r>
              <a:rPr sz="675" b="1">
                <a:solidFill>
                  <a:srgbClr val="D97706"/>
                </a:solidFill>
              </a:rPr>
              <a:t>متابعة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D82030-5AFB-4673-8DA5-5EC5F2C3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الأكشنز في الشاشة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677017-7A53-4C23-8928-2FB80982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47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EC3A826-F690-467C-8EA1-D5D26BE6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71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إضافة وحدة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F10C70-C003-4980-B9A4-6838D8FB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5EC0C3-AFE8-4A60-A2A9-5B544550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71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تعديل وحدة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65A86AF-92B9-4239-917E-B567D73E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19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70A386-B1D3-4366-B821-5375731C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43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تغيير الحالة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FAE120F-7D02-47E9-B6A1-5938B345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2563D52-1ACD-40EB-8FFE-519F2A4E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43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ربط الوحدة بالموقع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F911C59-8862-4A5A-BA2D-11CA7171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90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42695D6-4A9B-4681-8F78-4C3623A3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14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متابعة المستأجر والعقد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799282-CF0E-4998-80BA-8E513607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90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30A6281-7A58-440C-BBBC-FC37DB83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14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استيراد العقود من Excel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F6CDAB0-B255-4097-B4B2-6AB5E186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وحدات الإيجار | 4</a:t>
            </a:r>
          </a:p>
        </p:txBody>
      </p:sp>
    </p:spTree>
    <p:extLst>
      <p:ext uri="{BB962C8B-B14F-4D97-AF65-F5344CB8AC3E}">
        <p14:creationId xmlns:p14="http://schemas.microsoft.com/office/powerpoint/2010/main" val="13028176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5B1827F-3963-41C8-AA18-59518353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شاشة العقود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AF353-445E-4EFD-BCE8-9A4F4EF6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إنشاء العقد وربطه بالوحدة والمستأجر وجدول الدفعات.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0D158-7E10-42C7-BD30-F45C87F8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9055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0BED3-6BC5-4866-A69E-4E9BE9DD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28750"/>
            <a:ext cx="1476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D07EB-81A7-447A-A9AD-A0BD08E7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00200"/>
            <a:ext cx="285750" cy="2857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51960-C38F-4AA5-B14A-79B0FB95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47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C4285-4728-4ADB-8D9D-2E3D4C73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192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وحدات الإيجار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A7277-E3DC-4CB4-9634-D36FDA6B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133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لوحة التحكم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9217F-6E90-4B34-B7F4-75EA7C66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19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المواقع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95FF7-FB2B-40E6-B9CB-A994E1BF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7051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الوحدات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9A27B-BDCC-4A7F-9306-EE782301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952750"/>
            <a:ext cx="124777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EEC07-4848-42F7-B774-560843C8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9908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D4ED8"/>
                </a:solidFill>
              </a:defRPr>
            </a:pPr>
            <a:r>
              <a:rPr sz="825" b="1">
                <a:solidFill>
                  <a:srgbClr val="1D4ED8"/>
                </a:solidFill>
              </a:rPr>
              <a:t>العقود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1C0FF-8414-4CF4-A537-20FB7712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276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مستحق الآن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4434A-F971-401B-9A83-96A96555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562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الفواتير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C34D1-6BEA-4817-9EA9-16F2A625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8481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المدفوعات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B4D9D-26CB-4F95-9690-59F52CA3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1338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التقارير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F043D7-CBE9-4F33-AE56-BB29064A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419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الاستيراد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644BD3-F303-469B-8CCE-1D554BBA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705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المستخدمون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5CFED1-1A82-4812-8C51-FAE2B116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العقود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5F3DB0-0C67-4B21-ABD9-DCB09496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متابعة وإدارة البيانات اليومية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73E58A-7A13-4C57-A777-39C6AE2B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95450"/>
            <a:ext cx="1047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9ABC30-1722-4069-A321-57F59173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7811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إنشاء عقد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71E816-7A02-4AC3-80AD-0B36C9E5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010025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630D0F-89D8-4A7F-9922-3026A74C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781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4A3B8"/>
                </a:solidFill>
              </a:defRPr>
            </a:pPr>
            <a:r>
              <a:rPr sz="900">
                <a:solidFill>
                  <a:srgbClr val="94A3B8"/>
                </a:solidFill>
              </a:rPr>
              <a:t>بحث أو تصفية...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7B7B64-FEA7-42CA-A4AD-DA6B20BB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5A545E-6A81-40A4-957E-9B2A1EC0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CON-2026-017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CE962E-5577-49D9-8780-1140CD51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نشط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A38C26-5C5E-44AE-98BA-CF033EDA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725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F4D6B9-E124-4585-92DC-D0BD902A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75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CON-2026-018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1FCF73-AF2E-487A-8272-6AEADBE6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75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منتهٍ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5FC9B4-1DCE-4EBD-AF0B-88334CD3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150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9EE75F-3778-4F75-BB37-30A65147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CON-2026-019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2EC88C-CC3A-45CD-8F36-60E29BB2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ملغي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3D29D1-BAFC-4096-89A8-298EDA57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010025" cy="1381125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D2F39B-5BAC-4D44-9AF1-E2B8C93B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010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358AA6-1762-4FBA-AC42-1B750AE6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العنصر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8B4170-C148-4D97-9779-E03D5FD3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التفاصيل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FA287C-2CED-4292-9011-7AB9AA0A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الحالة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5A4EFB-AC73-4C8D-AB28-E98EF933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1433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CON-2026-017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1FD113-CD24-457F-B9DC-CB98F121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433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نشط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89F7AE-59BF-4702-92F1-1415F86E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19175D-F10F-442D-8FCC-BC342C3B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16242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6A34A"/>
                </a:solidFill>
              </a:defRPr>
            </a:pPr>
            <a:r>
              <a:rPr sz="675" b="1">
                <a:solidFill>
                  <a:srgbClr val="16A34A"/>
                </a:solidFill>
              </a:rPr>
              <a:t>إجراء متاح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95DC6B-160A-4EE1-BF83-CB0DC06A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467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CON-2026-018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F0598A-783F-4977-99CA-28A01A93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67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منتهٍ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5E52E0-9A4E-488C-8AF2-9E373691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94440B-3DF6-466D-8CA8-4864AE89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48627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97706"/>
                </a:solidFill>
              </a:defRPr>
            </a:pPr>
            <a:r>
              <a:rPr sz="675" b="1">
                <a:solidFill>
                  <a:srgbClr val="D97706"/>
                </a:solidFill>
              </a:rPr>
              <a:t>متابعة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4313F6-FEC2-4E74-A808-7B3ACA83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910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CON-2026-019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23C5CC-89E7-4944-82D9-DC3EC1E8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910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ملغي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FAC999-5C7D-43AC-8650-A8F640E6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0A43735-6693-400E-B9D6-C5F23A42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81012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</a:defRPr>
            </a:pPr>
            <a:r>
              <a:rPr sz="675" b="1">
                <a:solidFill>
                  <a:srgbClr val="2563EB"/>
                </a:solidFill>
              </a:rPr>
              <a:t>متابعة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0705131-1472-4698-BC15-808F37DE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الأكشنز في الشاشة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A5A2EC4-5494-4EF3-95C8-E6414DE9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47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F960A7-3FE0-485B-958D-588AE2EE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71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إنشاء عقد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380414F-0C5F-4776-A2CC-378F3F81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59A2FC-AFF3-404D-8058-4EDCF839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71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تعديل عقد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61E82C6-2A93-4400-998F-8D42C423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19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2F25CE-0D74-4E06-B252-0FDA56A5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43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إلغاء عقد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84FCC2-7240-4A41-8B5D-13760CCC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7126CF2-99A6-40CB-9E6E-62904886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43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إضافة بيانات المستأجر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C728C8C-5D1B-490E-9AEB-3F7B1CC3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90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5FABC23-81A2-4D06-A28B-14AB53A0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14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تحديد مدة العقد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CF6F576-6900-4001-898D-1C9FA0AC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90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53BB582-779D-461F-B2C4-817405BE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14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اختيار نظام الدفع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9F9414B-A0A3-4165-A721-9D9ADC62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62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0A608A7-CF2E-4764-A4CA-E8A0380A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86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معاينة جدول الفواتير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C5F4F55-964F-4F32-ADEB-F46CF85C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وحدات الإيجار | 5</a:t>
            </a:r>
          </a:p>
        </p:txBody>
      </p:sp>
    </p:spTree>
    <p:extLst>
      <p:ext uri="{BB962C8B-B14F-4D97-AF65-F5344CB8AC3E}">
        <p14:creationId xmlns:p14="http://schemas.microsoft.com/office/powerpoint/2010/main" val="12983523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C1E91E6-5BE6-4401-8123-8A91362F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شاشة مستحق الآن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E9791-B7CF-4BA0-9FD2-CFCBC11C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كل المستحقات القديمة ومستحقات هذا الشهر في مكان واحد.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516F7-2411-4A24-9463-9AC6E6FC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9055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404BE-6771-4730-8D39-10F81385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28750"/>
            <a:ext cx="1476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D3880-7833-4E79-B209-213B7538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00200"/>
            <a:ext cx="285750" cy="2857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ADC02-CC37-4EA8-8FCC-BFDEDAC9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47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8804C-4E87-4E52-BBA6-ADA25CB3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192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وحدات الإيجار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7E2B67-B759-4F8C-B6AF-4204BA75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133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لوحة التحكم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8A107-BC01-419C-B394-DCCB12AC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19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المواقع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F14C2-B563-4761-B359-BF1955D3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7051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الوحدات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2AE10-B2D8-4767-B001-89114921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9908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العقود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84344-BEEE-4EB8-80DB-F0352719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238500"/>
            <a:ext cx="124777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01A8EC-7480-44A9-A30F-05D73665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276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D4ED8"/>
                </a:solidFill>
              </a:defRPr>
            </a:pPr>
            <a:r>
              <a:rPr sz="825" b="1">
                <a:solidFill>
                  <a:srgbClr val="1D4ED8"/>
                </a:solidFill>
              </a:rPr>
              <a:t>مستحق الآن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1AB37-FF77-4822-8A8B-B46F5245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562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الفواتير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16C9A-E754-46F7-AC37-9ADC3DA7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8481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المدفوعات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D9497-CB28-4DB5-AFDB-1CE2A871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1338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التقارير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5EB7E4-6C32-4D32-B93A-71E62CD9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419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الاستيراد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066BCC-CA5A-40DF-9BA3-8E1F34FD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705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المستخدمون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01CEB4-FE64-4A79-80A6-619B4CA2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مستحق الآن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E346F0-2FDE-4C13-965B-A6F0E3E3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متابعة وإدارة البيانات اليومية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335E0F-6F9F-4F52-A895-F6975766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95450"/>
            <a:ext cx="1047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C43F45-180C-4D25-93B6-8A4693E7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7811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إصدار فاتورة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64D36E-BCB9-4147-98CE-EB53E6A4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010025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DCB230-F005-45D2-A7C5-2EBF85C4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781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4A3B8"/>
                </a:solidFill>
              </a:defRPr>
            </a:pPr>
            <a:r>
              <a:rPr sz="900">
                <a:solidFill>
                  <a:srgbClr val="94A3B8"/>
                </a:solidFill>
              </a:rPr>
              <a:t>بحث أو تصفية...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58C50B-4CD8-49A9-B8EB-C7888321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B1A81C-B5B3-44F3-9FF2-DB46B860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INV-DUE-041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4C98A4-D2BF-41FD-93C2-9AA2D065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متأخر 12 يوم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491BE1-6F69-4726-AB2C-0BCF2B95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725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159623-9314-416C-BC80-DE76E3C4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75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INV-DUE-042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87642E-7BD4-465B-8553-7530A08C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75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مستحق هذا الشهر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4E313F-8E88-4C35-B856-DF4C964E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150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1D0D64-220F-4BEA-9118-D770BB57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INV-DUE-043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B4F765-D32C-4B4E-ADA3-1558552D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مستحق قديم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E1606E-2E61-45FC-9E14-9620CFD5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010025" cy="1381125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294077-52F3-4381-8628-5741944E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010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DE550E-ABFA-46DD-B2F0-9E2AB8BF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العنصر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0FC4F5-94A3-4642-88A4-4ECD7133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التفاصيل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594DFD-D0E9-47A9-B272-A3F23AEF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الحالة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C3FD81-56CC-466E-A1BC-063AE281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1433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INV-DUE-041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6DDAFA-9708-49E8-8C56-035F2276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433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متأخر 12 يوم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20426E-E0F7-4819-91A7-D297BC6B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0F6075-F01E-4393-9A3F-A85D4414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16242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97706"/>
                </a:solidFill>
              </a:defRPr>
            </a:pPr>
            <a:r>
              <a:rPr sz="675" b="1">
                <a:solidFill>
                  <a:srgbClr val="D97706"/>
                </a:solidFill>
              </a:rPr>
              <a:t>إجراء متاح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E7DEDB-A89D-476E-94A0-E7A108C2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467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INV-DUE-042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776D79-93C1-463D-8B11-2690331A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67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مستحق هذا الشهر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379070-EF68-487E-9A93-256D5885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4ED7E9-5687-400B-AECB-46723069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48627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</a:defRPr>
            </a:pPr>
            <a:r>
              <a:rPr sz="675" b="1">
                <a:solidFill>
                  <a:srgbClr val="2563EB"/>
                </a:solidFill>
              </a:rPr>
              <a:t>متابعة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C997B0-676F-46D8-871D-0BDC0168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910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INV-DUE-043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F93028-560B-4AA0-B393-06611CE6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910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مستحق قديم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A32F51-77C5-4F6F-8E41-C618DD2D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65C383-5C30-4DB8-8497-21E868EA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81012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97706"/>
                </a:solidFill>
              </a:defRPr>
            </a:pPr>
            <a:r>
              <a:rPr sz="675" b="1">
                <a:solidFill>
                  <a:srgbClr val="D97706"/>
                </a:solidFill>
              </a:rPr>
              <a:t>متابعة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64F8A1C-F690-4CD7-BC61-9F17A712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الأكشنز في الشاشة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0EC4708-15A0-4E87-A870-5CA557C4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47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908A87C-800B-4D42-8B86-0FD54239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71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مراجعة المستحقات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DE6240C-79B5-45FF-B525-15116EA0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DFB79CE-0B16-4427-8ADA-32B74A1D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71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إصدار فاتورة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23C2190-7115-4E9C-BFFF-C2CC31AE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19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31239B-8560-4831-989B-2262BEA2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43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مزامنة الفواتير المستحقة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49BE74-02C3-418D-82AD-0A65BD8B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2FCB551-FBD7-4BC1-B1E9-AE6C1505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43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عرض التأخير بالأيام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96A00B3-84E8-40C2-9EA7-3BF6DFF3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90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637C743-EBE5-4436-9903-E4C93478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14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فتح تفاصيل الوحدة أو الفاتورة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F12D17A-2059-43D5-9735-8F13F2DA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وحدات الإيجار | 6</a:t>
            </a:r>
          </a:p>
        </p:txBody>
      </p:sp>
    </p:spTree>
    <p:extLst>
      <p:ext uri="{BB962C8B-B14F-4D97-AF65-F5344CB8AC3E}">
        <p14:creationId xmlns:p14="http://schemas.microsoft.com/office/powerpoint/2010/main" val="1046612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99C09CA-B365-4952-8B9C-53D0D0CE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شاشة الفواتير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A387A-9355-437B-9CA0-67EAD85E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متابعة الفواتير الصادرة وحالتها ومبالغها.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0722E-CE0C-41A6-A8B4-E329E271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9055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2D1A0-CEAD-44C5-891B-AF251CB8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28750"/>
            <a:ext cx="1476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DF7BF-AC39-43B2-BFEB-DC8F0A78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00200"/>
            <a:ext cx="285750" cy="2857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D62BA-4742-4936-8B6B-0D38F233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47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63467-88DD-4610-A6D3-3E111EC6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192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وحدات الإيجار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58BC2-B81C-47F2-93F7-4C39D7D4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133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لوحة التحكم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7E240-E13B-42A6-A392-E5EABE9E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19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المواقع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74DA7-DDA8-4AAF-9D4C-136D9E6D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7051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الوحدات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609CD-C2AC-4BDF-96F5-8152C371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9908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العقود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73A77-D6AB-46E5-8A86-D5F06E36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276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مستحق الآن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8B8C57-1159-4C83-A622-8C56A482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524250"/>
            <a:ext cx="124777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FA324-7CF3-4CA2-BDE6-6EF4AEAC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562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D4ED8"/>
                </a:solidFill>
              </a:defRPr>
            </a:pPr>
            <a:r>
              <a:rPr sz="825" b="1">
                <a:solidFill>
                  <a:srgbClr val="1D4ED8"/>
                </a:solidFill>
              </a:rPr>
              <a:t>الفواتير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2FE94B-7719-43F6-BC4E-C3C33F0E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8481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المدفوعات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D9200-357A-4268-9750-0F822955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1338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التقارير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C78566-29D5-431E-B5AD-1AD102A6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419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الاستيراد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E9FB2F-ADB4-4E00-850E-9731B63A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705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المستخدمون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60CF9F-BFE3-4168-9067-55BC6D5A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الفواتير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566E12-68DD-4DBB-915F-90E9B36C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متابعة وإدارة البيانات اليومية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1C9767-2698-40A9-940B-38AA0DDF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95450"/>
            <a:ext cx="1047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E7374F-965C-4B84-9986-A485B63C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7811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تسجيل دفعة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E27527-58A5-418C-84FA-CF541148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010025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BCF108-2164-41DA-BE28-8EFF2FE1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781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4A3B8"/>
                </a:solidFill>
              </a:defRPr>
            </a:pPr>
            <a:r>
              <a:rPr sz="900">
                <a:solidFill>
                  <a:srgbClr val="94A3B8"/>
                </a:solidFill>
              </a:rPr>
              <a:t>بحث أو تصفية...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AB1B5F-90B3-43E3-981B-E3D6A2B0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44F20B-073F-422B-91C7-37B4DC70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INV-1042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F6E9AA-747E-4BFB-8897-D9E8251A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في انتظار الدفع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20E06D-FA25-47AE-A4DA-A19C7A15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725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EED72B-D67B-4398-B12C-EA194A56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75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INV-1043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42C164-29D2-4317-8690-7E013464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75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مدفوع جزئياً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704CBE-53BE-409A-ADAC-7D28117A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150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BA6A0C-7AB7-47CC-B3E3-2FEE5F98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INV-1044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75481E-E2C5-4406-9A95-29D08466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مدفوع بالكامل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2321E3-103B-4237-A165-80F00977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010025" cy="1381125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578F8C-258F-4271-B9BB-F9A5C123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010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17FF5F-AAD1-47E6-AF81-6381D429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العنصر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08C456-477F-4E0F-8CD5-9C76926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التفاصيل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13EF5B-BA23-428F-B2DB-A86BC043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الحالة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4BE89F-0D16-4461-B506-35EC26C3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1433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INV-1042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DE6999-698A-4EEB-B092-CD40DF63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433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في انتظار الدفع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E1FECD-7C9A-4EA1-9A73-D71B1D38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8A3403-7E7A-492B-9BF7-486A9AA6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16242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</a:defRPr>
            </a:pPr>
            <a:r>
              <a:rPr sz="675" b="1">
                <a:solidFill>
                  <a:srgbClr val="2563EB"/>
                </a:solidFill>
              </a:rPr>
              <a:t>إجراء متاح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20F0E7-1A3F-4FE5-B035-E4F01C74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467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INV-1043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7E65D4-CDDD-446A-96F8-40CB3A26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67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مدفوع جزئياً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7175B4-C2DF-4569-BDCC-FC1623AC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6662BB-3E45-4DED-B265-4C6D2432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48627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97706"/>
                </a:solidFill>
              </a:defRPr>
            </a:pPr>
            <a:r>
              <a:rPr sz="675" b="1">
                <a:solidFill>
                  <a:srgbClr val="D97706"/>
                </a:solidFill>
              </a:rPr>
              <a:t>متابعة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2B4C46-A851-490E-AAD8-E1D2D378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910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INV-1044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60EFAEA-5098-4F9F-A132-E4CEE334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910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مدفوع بالكامل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00FE62-1850-402A-ACAA-4E00465C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17DF65-BF52-4F61-87E9-DCA4D419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81012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6A34A"/>
                </a:solidFill>
              </a:defRPr>
            </a:pPr>
            <a:r>
              <a:rPr sz="675" b="1">
                <a:solidFill>
                  <a:srgbClr val="16A34A"/>
                </a:solidFill>
              </a:rPr>
              <a:t>متابعة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E97D90-7FB5-4549-A0D1-C44AA24E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الأكشنز في الشاشة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BAECFA-44C2-45D0-91E2-5904B044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47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482B35-0AD3-458B-A6B8-94956F5F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71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إصدار فاتورة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1ACAA2-8045-4904-8076-FD052BCC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382EB09-3175-4C62-96C2-FDFF8594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71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تسجيل دفعة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7D8B2C8-C209-40A5-82BD-1E96E4F2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19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BB78E88-79D1-4035-90A4-749AF045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43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متابعة المتبقي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E69712B-8927-4C7C-8D4F-972DEDC6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7A779D6-035F-4D5E-B45E-05F7FEFD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43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معرفة حالة الفاتورة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AE33CE8-9E37-44AE-8F69-76DE082C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90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9DC1248-884F-461E-93C8-3C4F10C6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14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تصفية حسب الحالة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2281330-9AAF-40A6-A036-A436C01F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90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8BB799E-84DB-4A2E-B180-2EF2296B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14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فتح الفاتورة المرتبطة بالوحدة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A9E748F-EC0D-40FD-A585-D76BDE84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وحدات الإيجار | 7</a:t>
            </a:r>
          </a:p>
        </p:txBody>
      </p:sp>
    </p:spTree>
    <p:extLst>
      <p:ext uri="{BB962C8B-B14F-4D97-AF65-F5344CB8AC3E}">
        <p14:creationId xmlns:p14="http://schemas.microsoft.com/office/powerpoint/2010/main" val="1692302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EA4FEF5-D856-4695-9FA5-A88780C0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شاشة المدفوعات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DCFFE-1A00-41BA-A4EE-3BFF985A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سجل التحصيل بالكامل مع الفلاتر والتصدير.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F1EBA-BB4F-4984-8C5E-01EB3E06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9055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A6358-E0B8-4B63-8F7F-ECDFAC50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28750"/>
            <a:ext cx="1476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DE1AB-F38D-4347-BD18-DED7E3B9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00200"/>
            <a:ext cx="285750" cy="2857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B8348-A509-4D2C-9801-48B409AD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47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7941B-9086-4732-A9C9-584A6FDE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192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وحدات الإيجار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AD815-38DB-4F47-A2AC-312B3525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133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لوحة التحكم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2EFC9-1A1A-462B-B40A-06051473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19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المواقع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5D085-7562-4BF1-8DBD-4815E816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7051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الوحدات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964B3-A83E-4998-92C9-41CFC102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9908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العقود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F3B47-479A-42D5-B8CB-2255B6A0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276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مستحق الآن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624F9-357F-40A4-B7ED-EC98A17D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562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الفواتير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A93EB-65E8-4DE7-92DD-524DF803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810000"/>
            <a:ext cx="124777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36136-AB12-4946-A4C5-9CBC543A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8481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D4ED8"/>
                </a:solidFill>
              </a:defRPr>
            </a:pPr>
            <a:r>
              <a:rPr sz="825" b="1">
                <a:solidFill>
                  <a:srgbClr val="1D4ED8"/>
                </a:solidFill>
              </a:rPr>
              <a:t>المدفوعات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F2E74-8B97-4306-9D95-3CE35C56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1338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التقارير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C247E6-FDA7-4421-A15F-4408112E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419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الاستيراد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D54F5-5B44-4FA6-97FD-AB9DA86D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705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المستخدمون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35EE7E-91FB-45F4-973C-0BFFB779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المدفوعات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C4D38D-B864-4F05-98EC-D2925F05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متابعة وإدارة البيانات اليومية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F3B3C-E3F5-4C97-9811-FB0A3079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95450"/>
            <a:ext cx="1047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DC8F56-BEFD-44A4-A70F-7C1FA79F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7811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تسجيل دفعة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2CCBC7-10F2-42FE-8905-DC712667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010025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B54F0E-5379-4169-98AB-3FE60405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781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4A3B8"/>
                </a:solidFill>
              </a:defRPr>
            </a:pPr>
            <a:r>
              <a:rPr sz="900">
                <a:solidFill>
                  <a:srgbClr val="94A3B8"/>
                </a:solidFill>
              </a:rPr>
              <a:t>بحث أو تصفية...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60CB16-7356-4A2B-9DB7-DC588D1F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28C345-1207-4DC4-AE00-2DEAB456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تحويل بنكي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786BB2-F5AE-4B9E-99A8-2ACA7396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4,500 ر.س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6827FC-D90B-4DB7-9889-C0E8D2F6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725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A341CD-1668-4146-B557-1FED2E20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75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نقدي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11A37B-4501-4FA6-A830-99C4F251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75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2,800 ر.س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0029FC-8DD3-4301-B3E8-0C96654B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150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3A7736-0024-450F-919F-076B910E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شيك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6EC9DA-5A1B-46B5-B72F-7E8DE23D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6,200 ر.س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21E186-8DCA-4314-830F-07A01130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010025" cy="1381125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01EE92-395C-4E75-AB85-0927DA13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010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4602BE-4F27-437F-98A1-43FA0D7C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العنصر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FDCF16-7DE0-4699-B565-831C1FFD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التفاصيل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E150E5-C31F-4935-AB25-72B126EF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الحالة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F634D7-7293-4039-8D8A-603F056F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1433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تحويل بنكي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E7B67F-01BB-4F9B-AEAB-AEAB7AC9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433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4,500 ر.س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CE78B8-865F-463B-8B1B-D01FDEEA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BBE7AC-B317-401F-852B-5D40B729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16242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6A34A"/>
                </a:solidFill>
              </a:defRPr>
            </a:pPr>
            <a:r>
              <a:rPr sz="675" b="1">
                <a:solidFill>
                  <a:srgbClr val="16A34A"/>
                </a:solidFill>
              </a:rPr>
              <a:t>إجراء متاح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68DE27-B609-4C0E-AE1F-8B753772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467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نقدي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23C247-D471-46AC-863B-81E305EF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67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2,800 ر.س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83B2D6-E4DB-47FC-B5D6-C739DBD2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DBF73F-155E-4103-B07E-0EA2E98F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48627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</a:defRPr>
            </a:pPr>
            <a:r>
              <a:rPr sz="675" b="1">
                <a:solidFill>
                  <a:srgbClr val="2563EB"/>
                </a:solidFill>
              </a:rPr>
              <a:t>متابعة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AE9395-595B-4591-9CB6-9CD7548D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910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شيك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BA3C48-0779-4F2C-B85B-74109766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910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6,200 ر.س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A362035-137D-4342-BB08-5F8637C0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D95B0EF-7C95-4252-AD80-A294462A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81012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97706"/>
                </a:solidFill>
              </a:defRPr>
            </a:pPr>
            <a:r>
              <a:rPr sz="675" b="1">
                <a:solidFill>
                  <a:srgbClr val="D97706"/>
                </a:solidFill>
              </a:rPr>
              <a:t>متابعة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9F81DF3-DF99-4F4F-82B1-E4A2846F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الأكشنز في الشاشة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BC944A-C7D9-4900-BC56-44FBFF06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47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6A64BC-94A0-41EB-8FE6-C9B90B98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71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تسجيل دفعة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747A7F5-FFE5-4FF1-B521-9FFEA946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C42D44D-1B4F-46EE-97EE-812C86A2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71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اختيار دفع كامل أو جزئي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5E00DBF-F550-4B67-8646-28055F64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19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9891C03-28C4-445F-A56A-8A36606F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43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تحديد طريقة الدفع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F03E471-57E8-4612-BD97-4E832550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1B849B1-08FD-4DBF-9280-04CBFE4B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43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إضافة رقم مرجع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A84CDF6-157E-44ED-A079-C3E97B7D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90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4300576-61F8-4557-9871-4B150460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14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تصفية بالتاريخ أو الطريقة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845F615-8E52-4C3E-B957-CA0B5989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90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26579B4-1965-4D43-AB83-FAE7A67D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14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تصدير Excel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D3F06B3-3190-4E84-8912-847B66B9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وحدات الإيجار | 8</a:t>
            </a:r>
          </a:p>
        </p:txBody>
      </p:sp>
    </p:spTree>
    <p:extLst>
      <p:ext uri="{BB962C8B-B14F-4D97-AF65-F5344CB8AC3E}">
        <p14:creationId xmlns:p14="http://schemas.microsoft.com/office/powerpoint/2010/main" val="9629881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CAABDFF-9D28-4EC4-BA5C-AE75FC79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شاشة التقارير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0E741-5BAA-4C8E-B465-8551D05C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تقارير جاهزة لمتابعة الذمم وكشف الموقع.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27B21-0DE1-479C-B0FB-C3839C2F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9055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B74C9-3E46-4BFF-88E1-31B94E52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28750"/>
            <a:ext cx="1476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BEB40-E53B-4B08-8652-5BA6F3AC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00200"/>
            <a:ext cx="285750" cy="2857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0FE47-002A-401C-B0F8-8916AEA9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47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EAB6C-8702-4A4B-A1D8-B4110E9E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192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وحدات الإيجار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007D9-B621-478F-9116-7E5200ED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133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لوحة التحكم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70790-B31E-449D-8317-A0DBAB71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19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المواقع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9E8E9-A2A1-4889-BB06-BC32F1AE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7051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الوحدات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AD70C-8F29-454D-9E70-A1CFB379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9908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العقود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8E58A-C5BB-4240-8CD5-F766884A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276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مستحق الآن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F036D1-1404-4AB7-936D-7A2E0352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562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الفواتير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FCA22-7D48-49B3-B3BA-4B19A259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8481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المدفوعات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67AFA9-12DE-4107-A47D-28D55ED2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095750"/>
            <a:ext cx="124777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DA4450-52FE-4A78-A936-43CAC0E6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1338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D4ED8"/>
                </a:solidFill>
              </a:defRPr>
            </a:pPr>
            <a:r>
              <a:rPr sz="825" b="1">
                <a:solidFill>
                  <a:srgbClr val="1D4ED8"/>
                </a:solidFill>
              </a:rPr>
              <a:t>التقارير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33A7D-4517-4DAC-A6EC-E444CE2B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419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الاستيراد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CA143C-9EC6-4600-8B13-DE8B6321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705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المستخدمون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FF492B-9E56-4AB7-AEE1-B9ED7C6E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التقارير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DDEFE-BE3D-45C1-902F-6972EBF4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متابعة وإدارة البيانات اليومية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C8BB56-CF8D-4713-82B0-290ECB9B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95450"/>
            <a:ext cx="1047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031CD2-F34E-481E-AD3C-0C85CD26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7811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تصدير Excel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1D3322-753D-4F98-9301-706A7E50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010025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9BA83D-D173-4F44-AB54-4B499772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781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4A3B8"/>
                </a:solidFill>
              </a:defRPr>
            </a:pPr>
            <a:r>
              <a:rPr sz="900">
                <a:solidFill>
                  <a:srgbClr val="94A3B8"/>
                </a:solidFill>
              </a:rPr>
              <a:t>بحث أو تصفية...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9A171C-ADBD-408E-81AB-DD5DF04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C80D7A-A6EF-4B77-84F5-7D493A60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إجمالي المستحق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9E831A-9A15-4E1C-9812-A4EE3B8B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86,000 ر.س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7A44D7-126B-4065-AE6D-DB108429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725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280AEC-A18B-49A1-85E0-C87150A1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75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عدد الفواتير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A1F396-6619-41D4-B1E3-7502A85E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75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54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633D3F-2E10-4873-97BF-873B8400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150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1AEC3C-74D6-4511-92E0-3145642F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إجمالي المدفوع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5E49E6-05C4-47DE-BA0A-D452F970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310,000 ر.س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09DA73-62A8-4EC5-8BFE-FB1F9642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010025" cy="1381125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AFC8F0-BF0F-4C62-BC9A-3A3EB63C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010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AE2230-E8F7-461A-9674-BC6A4DFD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العنصر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93E52F-8E9C-4D27-967E-2564F0BE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التفاصيل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A18CD1-29FC-425C-B90E-3316E083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الحالة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0E3EEB-9AA1-4293-99A8-D2645BF2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1433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إجمالي المستحق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713B0A-6159-4F78-B8D1-7B7EAE64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433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86,000 ر.س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029F7B-85F4-47EF-A81A-9853D989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0F22B2-1082-448B-8B87-A41B1C3B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16242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97706"/>
                </a:solidFill>
              </a:defRPr>
            </a:pPr>
            <a:r>
              <a:rPr sz="675" b="1">
                <a:solidFill>
                  <a:srgbClr val="D97706"/>
                </a:solidFill>
              </a:rPr>
              <a:t>إجراء متاح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E97054-8A39-4CA8-9DB4-91376013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467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عدد الفواتير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F0AF47-9B94-4A3F-97DD-C19DFE5D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67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54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83C6F4-32B3-4AC9-B6EC-5DA3C258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A18F0C-EAFB-40E2-A7B0-5116D3FE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48627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</a:defRPr>
            </a:pPr>
            <a:r>
              <a:rPr sz="675" b="1">
                <a:solidFill>
                  <a:srgbClr val="2563EB"/>
                </a:solidFill>
              </a:rPr>
              <a:t>متابعة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6A1C92-E6F0-404B-8DC9-23D9E73F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910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إجمالي المدفوع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2856C9-00FA-418D-A9CD-22F14C23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910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310,000 ر.س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911158-05B2-44EF-9815-443EAA89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26D920-6004-4522-B843-58C5A841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81012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6A34A"/>
                </a:solidFill>
              </a:defRPr>
            </a:pPr>
            <a:r>
              <a:rPr sz="675" b="1">
                <a:solidFill>
                  <a:srgbClr val="16A34A"/>
                </a:solidFill>
              </a:rPr>
              <a:t>متابعة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57C059-325F-430F-A796-86031996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الأكشنز في الشاشة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3E943B-A4F7-466C-94B3-FA1A6990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47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517502-E9F9-4706-A0AB-AD11CC03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71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تقرير تقادم الذمم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ECBDF2E-71F3-417E-8CC9-FD26E67D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D144BBA-FDAA-4528-9188-CE46CD50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71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كشف حساب الموقع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58ECB7-BB9A-4773-94C3-F3F41008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19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214925-7A8B-4D27-A8AF-B0A1606B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43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تصفية حسب الموقع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1068E91-FA4D-461B-93A4-D95562F9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1C8A6B4-F7AF-42C1-941D-5C4BFD5E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43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تصفية حسب الحالة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947166C-35C1-458F-B887-9A900E8E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90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9617C3-05C6-4CFD-93BB-1E48211F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14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تصدير Excel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C0EDE85-EEC5-4375-A92E-50375F01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90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D81D135-041F-4F3F-AAF7-889FB469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14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عرض الإجماليات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1282792-59E4-4CE1-B816-CC56A046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وحدات الإيجار | 9</a:t>
            </a:r>
          </a:p>
        </p:txBody>
      </p:sp>
    </p:spTree>
    <p:extLst>
      <p:ext uri="{BB962C8B-B14F-4D97-AF65-F5344CB8AC3E}">
        <p14:creationId xmlns:p14="http://schemas.microsoft.com/office/powerpoint/2010/main" val="14181651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5DB57C8-7AEE-4F64-81CB-9A04B749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شاشة الاستيراد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C7920-96BA-4329-AB47-FCF1CFFD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تسريع إدخال البيانات من ملفات Excel.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695E5-D743-44D4-A715-80340281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9055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F9375-E94A-452F-9E4A-B3EBEFA3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28750"/>
            <a:ext cx="1476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AF0E6-728C-47FA-A6BA-44C8AA24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00200"/>
            <a:ext cx="285750" cy="2857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0457A-8141-4867-85C4-0866F78B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47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787E1-95BE-470A-A293-EA84AF70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192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وحدات الإيجار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310DA-7174-43C2-98B8-613C1376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133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لوحة التحكم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C0242-7EE6-447A-AB7A-0066E2E0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19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المواقع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628F6-80F4-4037-80FF-68881B0A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7051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الوحدات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6131A9-A81C-4A94-A17C-5C82D84F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9908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العقود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BAF0E-29CD-4748-B0E9-2D5D0A33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276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مستحق الآن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FD8A9-3C32-4394-B8D3-A714DE4E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562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الفواتير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242BC-B2BF-45E5-8960-95CB7DDF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8481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المدفوعات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544C5-215A-4535-A00D-B2B2CE28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1338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التقارير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BA483-DF8B-4968-850E-CAA4B3EF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381500"/>
            <a:ext cx="124777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77E5A2-96AB-46BA-91C0-1DB72CB6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419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D4ED8"/>
                </a:solidFill>
              </a:defRPr>
            </a:pPr>
            <a:r>
              <a:rPr sz="825" b="1">
                <a:solidFill>
                  <a:srgbClr val="1D4ED8"/>
                </a:solidFill>
              </a:rPr>
              <a:t>الاستيراد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3D245B-B9DB-4C81-8249-4FE079A5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705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المستخدمون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0BA209-4AEB-41AC-B674-822ECFC1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الاستيراد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2726F2-3B12-43BD-9681-DE045E70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متابعة وإدارة البيانات اليومية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12784C-169F-40E7-8A98-4E7EB634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95450"/>
            <a:ext cx="1047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934E5D-09F8-4A8A-A448-1684D9EC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7811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رفع ملف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B97C8D-DB60-4699-B4AB-99DE9000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010025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2CA37C-256E-4611-AE96-77FCF269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781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4A3B8"/>
                </a:solidFill>
              </a:defRPr>
            </a:pPr>
            <a:r>
              <a:rPr sz="900">
                <a:solidFill>
                  <a:srgbClr val="94A3B8"/>
                </a:solidFill>
              </a:rPr>
              <a:t>بحث أو تصفية...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9AFB74-718B-42EA-96C9-64EF463F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75C033-F38C-4FB3-BECA-87BC402B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ملف الوحدات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EB267E-B2B1-45BB-A45E-C3BD7880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تم الاستيراد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C5B05C-9C9E-4252-BD0F-324F6F48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725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E6324F-3517-49C5-A02D-07EEEB56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75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ملف العقود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45457B-56B3-4547-A0FD-10545FF3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75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3 أخطاء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25F3D4-AD70-4E85-BEFD-CABA5BFB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150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370849-30C3-45FC-960D-69ECE43D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النموذج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A9B77F-D9E0-4473-98AA-8B7F0E6A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جاهز للتحميل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2C72FC-FBBB-4FCC-AEF7-88050921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010025" cy="1381125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9715BC-CAF6-4881-A45F-1A1BB542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010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71388A-CB9F-4B04-B375-D1408351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العنصر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A2C88D-9F6B-4131-9E7C-6F89FBD5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التفاصيل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182D3B-67B7-4908-98DA-0BCACF25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الحالة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BE6720-BAF4-4009-BCBC-5F7E04FD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1433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ملف الوحدات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0CDB57-976A-4389-B5C0-70CCE072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433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تم الاستيراد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288F25-FE88-46CC-8473-2190166C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4AB867-D1C5-4F8E-A3A1-FEE3D6A8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16242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6A34A"/>
                </a:solidFill>
              </a:defRPr>
            </a:pPr>
            <a:r>
              <a:rPr sz="675" b="1">
                <a:solidFill>
                  <a:srgbClr val="16A34A"/>
                </a:solidFill>
              </a:rPr>
              <a:t>إجراء متاح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38866E-759F-43F9-AE9F-1088DC86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467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ملف العقود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1BBCC9-E785-4E88-8468-657DF08D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67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3 أخطاء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353E4C-7AEC-4799-9E78-89A2AFD5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39CA15-B718-4F06-B198-0FE5DDDD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48627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97706"/>
                </a:solidFill>
              </a:defRPr>
            </a:pPr>
            <a:r>
              <a:rPr sz="675" b="1">
                <a:solidFill>
                  <a:srgbClr val="D97706"/>
                </a:solidFill>
              </a:rPr>
              <a:t>متابعة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6003ED-8659-445F-8DC6-86769810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910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النموذج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B1E508-E5FC-4607-9DEF-C4371C57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910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جاهز للتحميل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DECB030-BC8D-431D-9C93-345D4C48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42A0323-4CB2-4C88-9F1A-674BDF65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81012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</a:defRPr>
            </a:pPr>
            <a:r>
              <a:rPr sz="675" b="1">
                <a:solidFill>
                  <a:srgbClr val="2563EB"/>
                </a:solidFill>
              </a:rPr>
              <a:t>متابعة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3C4894-25D0-4DFF-BCB9-79BD81DD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الأكشنز في الشاشة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B60CC6-A18A-4E68-AFB8-C9BE2E48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47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D22315-9CFF-4A0B-AA0A-9E1B83A5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71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تحميل النموذج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EA7119-D498-47B3-99A5-3FAA266F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333D49-9A46-4EBE-81B8-1A400273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71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رفع ملف Excel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19C5B7-3B26-4416-B15D-0D92D8E5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19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B62C3CE-C72C-4900-9EDA-A9FBB944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43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استيراد الوحدات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0E801D-D489-4FE9-A7AE-0F5BEA8B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B730B1F-9FB2-4774-9D1B-C515E03C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43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استيراد العقود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2AA1F97-798E-4286-AF99-BC3CE3F4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90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B2CBB36-D229-4329-99BC-598A2938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14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عرض الأخطاء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0E6AD9A-8820-49F7-BB43-E48AE5CF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90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ABFBD5A-737D-4831-A87B-4E976D5A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14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مراجعة عدد السجلات الناجحة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0564476-5AFD-4651-9869-9D4F12FE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وحدات الإيجار | 10</a:t>
            </a:r>
          </a:p>
        </p:txBody>
      </p:sp>
    </p:spTree>
    <p:extLst>
      <p:ext uri="{BB962C8B-B14F-4D97-AF65-F5344CB8AC3E}">
        <p14:creationId xmlns:p14="http://schemas.microsoft.com/office/powerpoint/2010/main" val="15806790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38A3378-7B78-440F-9810-1209C433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المستخدمون والصلاحيات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6F7AD-0C38-44DA-8082-9AEFDC93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تحديد من يقدر يعدل ومن يقدر يشاهد فقط.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FC7A7-D316-4EF6-B2D5-D5BBC87A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9055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A4DD6-A7ED-4AE5-94AD-5A9FFA50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28750"/>
            <a:ext cx="1476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75EAD-BE98-48BB-AA3A-36B79945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00200"/>
            <a:ext cx="285750" cy="2857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976C1-2166-4062-89BE-E4AA7B5E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47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F8857-E947-47D6-90D9-2CAFDD7C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192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F172A"/>
                </a:solidFill>
              </a:defRPr>
            </a:pPr>
            <a:r>
              <a:rPr sz="975" b="1">
                <a:solidFill>
                  <a:srgbClr val="0F172A"/>
                </a:solidFill>
              </a:rPr>
              <a:t>وحدات الإيجار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394AF-B8F0-4726-8D62-994B3DDD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133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لوحة التحكم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C7D63-844C-4CA3-9A40-E539D8C6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19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المواقع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FE5D5-8FA6-4AC1-88C5-8470B282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7051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الوحدات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51E86-BB01-4C49-9BFD-6C32930F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9908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العقود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D1CA1-5416-4E09-9C0E-910C128F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276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مستحق الآن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0F9B29-03C9-4042-8E3A-E077A544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562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الفواتير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6F492-D7FC-41D4-810F-6E42C5E6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8481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المدفوعات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B52825-809B-482F-96FB-8EAFB32E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1338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التقارير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EFFE30-D140-483E-A9D9-4603316E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41960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الاستيراد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9E222C-84EF-4724-89B4-CCE2075D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667250"/>
            <a:ext cx="124777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341934-23A0-489B-B34F-AC023168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7053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D4ED8"/>
                </a:solidFill>
              </a:defRPr>
            </a:pPr>
            <a:r>
              <a:rPr sz="825" b="1">
                <a:solidFill>
                  <a:srgbClr val="1D4ED8"/>
                </a:solidFill>
              </a:rPr>
              <a:t>المستخدمون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18C633-2017-4C7C-82B5-5C463A5B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المستخدمون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A4B0B-D088-4D57-B815-5A46953C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متابعة وإدارة البيانات اليومية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7A36AB-9075-444B-A0EE-434DA39F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95450"/>
            <a:ext cx="1047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EF5EC9-8927-4525-88BB-22FEF878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7811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إنشاء مستخدم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9FEE32-6BA0-40C0-8411-77CCE693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010025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854781-1E91-43E6-8147-98883365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781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94A3B8"/>
                </a:solidFill>
              </a:defRPr>
            </a:pPr>
            <a:r>
              <a:rPr sz="900">
                <a:solidFill>
                  <a:srgbClr val="94A3B8"/>
                </a:solidFill>
              </a:rPr>
              <a:t>بحث أو تصفية...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031985-8312-4714-9C97-18B44D8E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A90BEE-B341-4339-92D3-EE05FDF1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مدير / محرر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07C504-CCC6-4619-8CAA-650F605E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وصول كامل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A75092-0617-4D63-B8B2-70119BAE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725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CE1316-A0BB-4907-A8EE-17197DD7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75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مشاهد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6A1E00-6C09-4545-9621-F1EBC37C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75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عرض فقط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B6F94C-1041-42EE-A5BC-41F6D228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150" y="2857500"/>
            <a:ext cx="1273175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68B86D-00DF-4856-8344-36AC784E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2981325"/>
            <a:ext cx="10826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مستخدم جديد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9FFF7D-5595-446F-A3B5-8D3E93F5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3190875"/>
            <a:ext cx="1082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كلمة مرور مؤقتة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480CC2-FF12-4E03-B45A-DF2AB240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010025" cy="1381125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82F889-8F78-4F0E-A292-465D50F7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010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A024C1-BDDC-4178-A997-0530F3B9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العنصر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6017F3-8FBC-4634-86BD-60A8CEEC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التفاصيل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358061-7477-4F3F-AAFF-CE15DD66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الحالة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D9AFEA-80D5-4F9F-A0F3-ACD9530E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1433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مدير / محرر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1CA91B-C3D0-40B5-B9CE-CC1CFC33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433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وصول كامل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367FC6-75EB-4271-AFAF-98521F5A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23BCBE-E529-4298-B997-15E144E7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16242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563EB"/>
                </a:solidFill>
              </a:defRPr>
            </a:pPr>
            <a:r>
              <a:rPr sz="675" b="1">
                <a:solidFill>
                  <a:srgbClr val="2563EB"/>
                </a:solidFill>
              </a:rPr>
              <a:t>إجراء متاح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3FE466-C087-411E-B38B-4FB07445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467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مشاهد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B048DD-832E-499E-8A0B-9FC2EA05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672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عرض فقط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98735A-56DA-4EAE-927F-052A4E69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9FD684-B86C-4B09-9E5F-C670FB7F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48627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6A34A"/>
                </a:solidFill>
              </a:defRPr>
            </a:pPr>
            <a:r>
              <a:rPr sz="675" b="1">
                <a:solidFill>
                  <a:srgbClr val="16A34A"/>
                </a:solidFill>
              </a:rPr>
              <a:t>متابعة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85D148-12D1-45B3-9381-34B2D480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910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مستخدم جديد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41D409-2559-4442-AF0A-C3F7D15D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9107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كلمة مرور مؤقتة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A3FA44-6290-429B-9C46-35E31962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8382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CAF17F-DABC-4BF0-88EE-BE840C83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810125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97706"/>
                </a:solidFill>
              </a:defRPr>
            </a:pPr>
            <a:r>
              <a:rPr sz="675" b="1">
                <a:solidFill>
                  <a:srgbClr val="D97706"/>
                </a:solidFill>
              </a:rPr>
              <a:t>متابعة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876655-FACF-479B-A923-80F77020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الأكشنز في الشاشة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E88755-CD4A-4B3B-8ADE-9D681F48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47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AADE6F-09B0-4682-AD01-0A634B2F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71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إنشاء مستخدم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98755D4-BDAB-449A-9F3A-81393AC4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5CA5D3-4095-47B5-8F1A-FFC96296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71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تحديث الصلاحية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A25479C-0284-4C6A-AA08-A7FD6232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19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453BB1F-FCBD-473B-9051-0FC1A082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43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تعيين مدير / محرر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6942A6-9700-45F7-BAA2-29BD3D67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D841A34-EA65-4B8C-A82E-9776312A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43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تعيين مشاهد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0022C42-E52A-4468-A591-39D6808B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90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865E7D7-0BBE-4516-8187-EA68AEB0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14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مراجعة بريد المستخدم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4AD70C-6CD7-451C-8CE7-2B845325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90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E13EE4F-ED13-4D16-BE94-4797E6B7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14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عرض تاريخ الإنشاء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05A5618-6608-4F21-B0D8-D9FA7A97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وحدات الإيجار | 11</a:t>
            </a:r>
          </a:p>
        </p:txBody>
      </p:sp>
    </p:spTree>
    <p:extLst>
      <p:ext uri="{BB962C8B-B14F-4D97-AF65-F5344CB8AC3E}">
        <p14:creationId xmlns:p14="http://schemas.microsoft.com/office/powerpoint/2010/main" val="6989783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EF3545-97E6-4484-8C14-47D6C43F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طريقة العمل اليومية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9E792-2D0D-4602-B52C-F2363F10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هذه هي دورة الاستخدام المقترحة لفريق الشركة.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287D7-66F2-4300-BF17-BE1DD30C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57500"/>
            <a:ext cx="762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B7B40-10CC-4155-9A89-481B3289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480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9C58F-D254-4B63-B66D-EC5C519E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766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المواقع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EE52F-D4DB-400B-9A16-F7329412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762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D6280-0A88-4976-BCD5-DB2CDFB9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480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3A400-5089-4AE5-B3D3-B2D53ECC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766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الوحدات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49E80-1752-49CA-881F-3100EA50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762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97A18-4CAA-4ADF-AD1C-615082D4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480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70E0E-5C1B-4022-B06A-1408F4CD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766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العقود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FB27B-9AD0-48FC-B4C9-AE3F0C9B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57500"/>
            <a:ext cx="762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A557E-CDC4-406D-854D-293D16EB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480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07B52-5159-425D-BCA8-74057ED7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766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المستحق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FB5A43-DDE8-4508-8757-F25F7621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57500"/>
            <a:ext cx="762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29D71-BA4D-49C9-AC53-D850149F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480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78627E-E2ED-4D32-8CB5-2675B5A5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766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الفاتورة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DA187F-5C7A-4E71-967D-2BB4DB1C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57500"/>
            <a:ext cx="762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78EAC8-AF6A-47E5-B8A9-1B644FB9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480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0523B2-B630-42F1-B973-05CED4AD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766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الدفعة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9F2B93-ED46-4EA5-AC56-2CAE2052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762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7968BF-C9BB-4F47-8157-40C2C2AE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6A882E-F7FB-4BCA-ADBE-2985B99A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التقرير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05368E-E12C-42D5-84EE-416576A9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الأكشنز في الشاشة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B49E87-A18B-4D2A-8AA5-18232F7C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47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5808F5-474A-4ABF-98FB-35552AC4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71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أضف الموقع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1E3564-540E-4C38-82BE-A749FF01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7ABF43-2180-4009-B3A3-9B236140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71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أضف الوحدات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E9B391-4ADE-42EF-BC88-DB284B7C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19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609D0F-22FB-4DA1-A406-40C98F81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43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أنشئ العقد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EF4015-9CF6-429B-8067-8CF9E482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D2BF67-2F72-4E20-B88C-41D9EEF5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43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راجع المستحق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80DFAE-AA22-40CD-903F-CEBA1BBC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90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6EE755-19BB-4F03-8B8C-57FFBF2B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14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أصدر الفاتورة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4E0586-EBAD-4F35-A1DB-0B6AF446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908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167883-3B6B-48F3-8E59-75C38DE0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147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سجل الدفعة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3377E1-9A95-4055-BA11-6CE3C837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62375"/>
            <a:ext cx="1762125" cy="4572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4493CA-1698-49E0-A965-AE36E614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86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راجع التقرير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743792-0CAB-4025-838E-7AAB0457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وحدات الإيجار | 12</a:t>
            </a:r>
          </a:p>
        </p:txBody>
      </p:sp>
    </p:spTree>
    <p:extLst>
      <p:ext uri="{BB962C8B-B14F-4D97-AF65-F5344CB8AC3E}">
        <p14:creationId xmlns:p14="http://schemas.microsoft.com/office/powerpoint/2010/main" val="14267157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2026-07-28T17:06:42.0640000Z</dcterms:created>
  <dcterms:modified xsi:type="dcterms:W3CDTF">2026-07-28T17:06:42.0640000Z</dcterms:modified>
</coreProperties>
</file>